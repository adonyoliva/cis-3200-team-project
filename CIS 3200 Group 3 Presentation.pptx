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ed Hat Display SemiBold"/>
      <p:regular r:id="rId27"/>
      <p:bold r:id="rId28"/>
      <p:italic r:id="rId29"/>
      <p:boldItalic r:id="rId30"/>
    </p:embeddedFont>
    <p:embeddedFont>
      <p:font typeface="Red Hat Display Medium"/>
      <p:regular r:id="rId31"/>
      <p:bold r:id="rId32"/>
      <p:italic r:id="rId33"/>
      <p:boldItalic r:id="rId34"/>
    </p:embeddedFont>
    <p:embeddedFont>
      <p:font typeface="Red Hat Display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edHatDisplaySemiBold-bold.fntdata"/><Relationship Id="rId27" Type="http://schemas.openxmlformats.org/officeDocument/2006/relationships/font" Target="fonts/RedHatDisplay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edHatDisplay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edHatDisplayMedium-regular.fntdata"/><Relationship Id="rId30" Type="http://schemas.openxmlformats.org/officeDocument/2006/relationships/font" Target="fonts/RedHatDisplay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RedHatDisplayMedium-italic.fntdata"/><Relationship Id="rId10" Type="http://schemas.openxmlformats.org/officeDocument/2006/relationships/slide" Target="slides/slide4.xml"/><Relationship Id="rId32" Type="http://schemas.openxmlformats.org/officeDocument/2006/relationships/font" Target="fonts/RedHatDisplayMedium-bold.fntdata"/><Relationship Id="rId13" Type="http://schemas.openxmlformats.org/officeDocument/2006/relationships/slide" Target="slides/slide7.xml"/><Relationship Id="rId35" Type="http://schemas.openxmlformats.org/officeDocument/2006/relationships/font" Target="fonts/RedHatDisplay-regular.fntdata"/><Relationship Id="rId12" Type="http://schemas.openxmlformats.org/officeDocument/2006/relationships/slide" Target="slides/slide6.xml"/><Relationship Id="rId34" Type="http://schemas.openxmlformats.org/officeDocument/2006/relationships/font" Target="fonts/RedHatDisplay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RedHatDisplay-italic.fntdata"/><Relationship Id="rId14" Type="http://schemas.openxmlformats.org/officeDocument/2006/relationships/slide" Target="slides/slide8.xml"/><Relationship Id="rId36" Type="http://schemas.openxmlformats.org/officeDocument/2006/relationships/font" Target="fonts/RedHatDisplay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RedHatDisplay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b9ebf89d1_1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ab9ebf89d1_1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ab9ebf89d1_1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ab9ebf89d1_1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b9ebf89d1_1_1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ab9ebf89d1_1_1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ab9ebf89d1_1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ab9ebf89d1_1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b9ebf89d1_1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b9ebf89d1_1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ba8861d1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aba8861d1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b9ebf89d1_1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ab9ebf89d1_1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91234e7eb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91234e7eb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b9ebf89d1_1_1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ab9ebf89d1_1_1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b9ebf89d1_1_1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ab9ebf89d1_1_1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91234e7eb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91234e7eb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91234e7eb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91234e7eb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91234e7eb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91234e7eb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91234e7eb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91234e7eb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91234e7eb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91234e7eb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91234e7eb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91234e7eb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91234e7eb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91234e7eb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91234e7eb4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91234e7eb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ab9ebf89d1_1_1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ab9ebf89d1_1_1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this project, our group applied the full range of skills learned in class to analyze more than 150,000 San Francisco salary records using ElasticSearch.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machine learning regression to identify the key factors that influence total compensation, which strengthened our understanding of predictive modeling and influencer analysis.</a:t>
            </a:r>
            <a:br>
              <a:rPr lang="en"/>
            </a:br>
            <a:r>
              <a:rPr lang="en"/>
              <a:t>Overall, our findings highlight how data analytics can support more equitable and informed decision-making in public administration, showing the real-world value of the tools and methods we developed throughout the course.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dashboards that transformed complex salary data into meaningful visual insights, demonstrating our ability to communicate analytical results effectively.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91234e7eb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91234e7eb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5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15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4" name="Google Shape;94;p15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7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123" name="Google Shape;123;p17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95" name="Google Shape;195;p17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96" name="Google Shape;196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20" name="Google Shape;220;p17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4" name="Google Shape;224;p18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18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18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18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18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8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18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1" name="Google Shape;231;p18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8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" name="Google Shape;233;p18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18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5" name="Google Shape;235;p18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18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7" name="Google Shape;237;p18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8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41" name="Google Shape;241;p19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5" name="Google Shape;245;p19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19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19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19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19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19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1" name="Google Shape;251;p19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9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" name="Google Shape;253;p19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9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5" name="Google Shape;255;p19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9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7" name="Google Shape;257;p19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8" name="Google Shape;258;p19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9" name="Google Shape;259;p19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0" name="Google Shape;260;p19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61" name="Google Shape;261;p19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62" name="Google Shape;262;p19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3" name="Google Shape;263;p19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64" name="Google Shape;264;p19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9" name="Google Shape;269;p21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70" name="Google Shape;270;p21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1" name="Google Shape;271;p21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72" name="Google Shape;272;p21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21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74" name="Google Shape;274;p21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21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6" name="Google Shape;276;p21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77" name="Google Shape;277;p21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8" name="Google Shape;278;p21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1" name="Google Shape;281;p22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82" name="Google Shape;282;p22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83" name="Google Shape;283;p22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84" name="Google Shape;284;p22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5" name="Google Shape;285;p22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86" name="Google Shape;286;p22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22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88" name="Google Shape;288;p22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9" name="Google Shape;289;p22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90" name="Google Shape;290;p22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22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22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3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23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97" name="Google Shape;297;p23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98" name="Google Shape;298;p23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99" name="Google Shape;299;p23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00" name="Google Shape;300;p23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01" name="Google Shape;301;p23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4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5" name="Google Shape;305;p24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06" name="Google Shape;306;p24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24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09" name="Google Shape;309;p24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24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11" name="Google Shape;311;p24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24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13" name="Google Shape;313;p24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24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25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25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0" name="Google Shape;320;p25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24" name="Google Shape;324;p25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25" name="Google Shape;325;p25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26" name="Google Shape;326;p25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9" name="Google Shape;329;p26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0" name="Google Shape;330;p26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1" name="Google Shape;331;p26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34" name="Google Shape;334;p26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35" name="Google Shape;335;p26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36" name="Google Shape;336;p26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37" name="Google Shape;337;p26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8" name="Google Shape;338;p2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41" name="Google Shape;341;p2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2" name="Google Shape;342;p2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4" name="Google Shape;344;p27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5" name="Google Shape;345;p27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6" name="Google Shape;346;p27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7" name="Google Shape;347;p27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8" name="Google Shape;348;p27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9" name="Google Shape;349;p27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0" name="Google Shape;350;p27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1" name="Google Shape;351;p27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2" name="Google Shape;352;p27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3" name="Google Shape;353;p27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4" name="Google Shape;354;p27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5" name="Google Shape;355;p27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6" name="Google Shape;356;p27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7" name="Google Shape;357;p27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8" name="Google Shape;358;p27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9" name="Google Shape;359;p27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0" name="Google Shape;360;p27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1" name="Google Shape;361;p27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2" name="Google Shape;362;p27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3" name="Google Shape;363;p27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4" name="Google Shape;364;p27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5" name="Google Shape;365;p27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6" name="Google Shape;366;p27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69" name="Google Shape;369;p2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0" name="Google Shape;370;p2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1" name="Google Shape;371;p28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2" name="Google Shape;372;p28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3" name="Google Shape;373;p28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4" name="Google Shape;374;p28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5" name="Google Shape;375;p28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28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8" name="Google Shape;378;p28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3" name="Google Shape;383;p2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4" name="Google Shape;384;p2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5" name="Google Shape;385;p29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86" name="Google Shape;386;p29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87" name="Google Shape;387;p29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89" name="Google Shape;389;p29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90" name="Google Shape;390;p29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414" name="Google Shape;414;p29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415" name="Google Shape;415;p29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418" name="Google Shape;418;p30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9" name="Google Shape;419;p3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0" name="Google Shape;420;p30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21" name="Google Shape;421;p30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22" name="Google Shape;422;p30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23" name="Google Shape;423;p30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424" name="Google Shape;424;p30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8" name="Google Shape;428;p31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429" name="Google Shape;429;p31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30" name="Google Shape;430;p31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1" name="Google Shape;431;p31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31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31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31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35" name="Google Shape;435;p31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36" name="Google Shape;436;p31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37" name="Google Shape;437;p31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32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2"/>
          <p:cNvCxnSpPr>
            <a:stCxn id="441" idx="1"/>
            <a:endCxn id="442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2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32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32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45" name="Google Shape;445;p32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32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46" name="Google Shape;446;p32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32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8" name="Google Shape;448;p32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9" name="Google Shape;449;p32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1" name="Google Shape;451;p33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3"/>
          <p:cNvCxnSpPr>
            <a:stCxn id="453" idx="1"/>
            <a:endCxn id="454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3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3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33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57" name="Google Shape;457;p33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33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58" name="Google Shape;458;p33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33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0" name="Google Shape;460;p33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1" name="Google Shape;461;p33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4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4" name="Google Shape;464;p34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5" name="Google Shape;465;p34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9" name="Google Shape;469;p34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0" name="Google Shape;470;p34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1" name="Google Shape;471;p34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2" name="Google Shape;472;p34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3" name="Google Shape;473;p34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4" name="Google Shape;474;p34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5" name="Google Shape;475;p34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6" name="Google Shape;476;p34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7" name="Google Shape;477;p34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8" name="Google Shape;478;p34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9" name="Google Shape;479;p34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82" name="Google Shape;482;p35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3" name="Google Shape;483;p35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7" name="Google Shape;487;p35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90" name="Google Shape;490;p35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91" name="Google Shape;491;p35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6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5" name="Google Shape;495;p36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96" name="Google Shape;496;p36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97" name="Google Shape;497;p36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98" name="Google Shape;498;p36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99" name="Google Shape;499;p36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00" name="Google Shape;500;p36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01" name="Google Shape;501;p36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09" name="Google Shape;509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0" name="Google Shape;510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3" name="Google Shape;513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8" name="Google Shape;518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9" name="Google Shape;519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4" name="Google Shape;524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9" name="Google Shape;52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2" name="Google Shape;53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3" name="Google Shape;53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4" name="Google Shape;53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5" name="Google Shape;53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8" name="Google Shape;53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9" name="Google Shape;53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0" name="Google Shape;54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1" name="Google Shape;54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2" name="Google Shape;54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3" name="Google Shape;54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47" name="Google Shape;54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48" name="Google Shape;54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49" name="Google Shape;54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0" name="Google Shape;55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1" name="Google Shape;55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2" name="Google Shape;55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3" name="Google Shape;55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56" name="Google Shape;55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9" name="Google Shape;55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2" name="Google Shape;56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63" name="Google Shape;56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4" name="Google Shape;56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7" name="Google Shape;56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9" name="Google Shape;56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0" name="Google Shape;57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2" name="Google Shape;57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73" name="Google Shape;57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4" name="Google Shape;57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5" name="Google Shape;57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86" name="Google Shape;586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5"/>
          <p:cNvSpPr txBox="1"/>
          <p:nvPr>
            <p:ph type="title"/>
          </p:nvPr>
        </p:nvSpPr>
        <p:spPr>
          <a:xfrm>
            <a:off x="182850" y="1546344"/>
            <a:ext cx="57609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Salary Variation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San Francisco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94" name="Google Shape;594;p55"/>
          <p:cNvSpPr txBox="1"/>
          <p:nvPr/>
        </p:nvSpPr>
        <p:spPr>
          <a:xfrm>
            <a:off x="6802798" y="4363192"/>
            <a:ext cx="2056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CIS 3200-01 (92845)</a:t>
            </a:r>
            <a:endParaRPr sz="16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Jongwook Woo</a:t>
            </a:r>
            <a:endParaRPr sz="16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December 1, 2025</a:t>
            </a:r>
            <a:endParaRPr sz="16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5" name="Google Shape;595;p55"/>
          <p:cNvSpPr txBox="1"/>
          <p:nvPr/>
        </p:nvSpPr>
        <p:spPr>
          <a:xfrm>
            <a:off x="182850" y="4333800"/>
            <a:ext cx="40119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Group 3:</a:t>
            </a:r>
            <a:r>
              <a:rPr lang="en" sz="1600">
                <a:solidFill>
                  <a:schemeClr val="dk2"/>
                </a:solidFill>
              </a:rPr>
              <a:t> Julia Buano, Adony A. Oliva, Ismhael K. Asturias, Samuel Maingi, Nicholas Cun</a:t>
            </a:r>
            <a:endParaRPr sz="16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6"/>
          <p:cNvSpPr/>
          <p:nvPr/>
        </p:nvSpPr>
        <p:spPr>
          <a:xfrm>
            <a:off x="1356090" y="1149300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5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1" name="Google Shape;601;p56"/>
          <p:cNvSpPr/>
          <p:nvPr/>
        </p:nvSpPr>
        <p:spPr>
          <a:xfrm>
            <a:off x="1356090" y="1961533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2" name="Google Shape;602;p56"/>
          <p:cNvSpPr/>
          <p:nvPr/>
        </p:nvSpPr>
        <p:spPr>
          <a:xfrm>
            <a:off x="1356090" y="3113030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3" name="Google Shape;603;p56"/>
          <p:cNvSpPr/>
          <p:nvPr/>
        </p:nvSpPr>
        <p:spPr>
          <a:xfrm>
            <a:off x="1356090" y="2743350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4" name="Google Shape;604;p56"/>
          <p:cNvSpPr/>
          <p:nvPr/>
        </p:nvSpPr>
        <p:spPr>
          <a:xfrm>
            <a:off x="1356075" y="2352449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5" name="Google Shape;605;p56"/>
          <p:cNvSpPr/>
          <p:nvPr/>
        </p:nvSpPr>
        <p:spPr>
          <a:xfrm>
            <a:off x="1356090" y="4201764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6" name="Google Shape;606;p56"/>
          <p:cNvSpPr txBox="1"/>
          <p:nvPr>
            <p:ph idx="1" type="subTitle"/>
          </p:nvPr>
        </p:nvSpPr>
        <p:spPr>
          <a:xfrm>
            <a:off x="1645119" y="1149923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Abstract</a:t>
            </a:r>
            <a:endParaRPr sz="1975">
              <a:solidFill>
                <a:schemeClr val="lt2"/>
              </a:solidFill>
            </a:endParaRPr>
          </a:p>
        </p:txBody>
      </p:sp>
      <p:sp>
        <p:nvSpPr>
          <p:cNvPr id="607" name="Google Shape;607;p56"/>
          <p:cNvSpPr txBox="1"/>
          <p:nvPr>
            <p:ph type="title"/>
          </p:nvPr>
        </p:nvSpPr>
        <p:spPr>
          <a:xfrm>
            <a:off x="2922438" y="309525"/>
            <a:ext cx="32052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08" name="Google Shape;608;p56"/>
          <p:cNvSpPr txBox="1"/>
          <p:nvPr>
            <p:ph idx="2" type="subTitle"/>
          </p:nvPr>
        </p:nvSpPr>
        <p:spPr>
          <a:xfrm>
            <a:off x="1645119" y="1962156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Dataset Overview</a:t>
            </a:r>
            <a:endParaRPr sz="1975">
              <a:solidFill>
                <a:schemeClr val="lt2"/>
              </a:solidFill>
            </a:endParaRPr>
          </a:p>
        </p:txBody>
      </p:sp>
      <p:sp>
        <p:nvSpPr>
          <p:cNvPr id="609" name="Google Shape;609;p56"/>
          <p:cNvSpPr txBox="1"/>
          <p:nvPr>
            <p:ph idx="3" type="subTitle"/>
          </p:nvPr>
        </p:nvSpPr>
        <p:spPr>
          <a:xfrm>
            <a:off x="1559682" y="3102077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Implementation</a:t>
            </a:r>
            <a:endParaRPr sz="1975">
              <a:solidFill>
                <a:schemeClr val="lt2"/>
              </a:solidFill>
            </a:endParaRPr>
          </a:p>
        </p:txBody>
      </p:sp>
      <p:sp>
        <p:nvSpPr>
          <p:cNvPr id="610" name="Google Shape;610;p56"/>
          <p:cNvSpPr txBox="1"/>
          <p:nvPr>
            <p:ph idx="4" type="subTitle"/>
          </p:nvPr>
        </p:nvSpPr>
        <p:spPr>
          <a:xfrm>
            <a:off x="1645119" y="2743973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Relevance to Class</a:t>
            </a:r>
            <a:endParaRPr sz="1975">
              <a:solidFill>
                <a:schemeClr val="lt2"/>
              </a:solidFill>
            </a:endParaRPr>
          </a:p>
        </p:txBody>
      </p:sp>
      <p:sp>
        <p:nvSpPr>
          <p:cNvPr id="611" name="Google Shape;611;p56"/>
          <p:cNvSpPr txBox="1"/>
          <p:nvPr>
            <p:ph idx="5" type="subTitle"/>
          </p:nvPr>
        </p:nvSpPr>
        <p:spPr>
          <a:xfrm>
            <a:off x="1645105" y="2353072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Our Work</a:t>
            </a:r>
            <a:endParaRPr sz="1975">
              <a:solidFill>
                <a:schemeClr val="lt2"/>
              </a:solidFill>
            </a:endParaRPr>
          </a:p>
        </p:txBody>
      </p:sp>
      <p:sp>
        <p:nvSpPr>
          <p:cNvPr id="612" name="Google Shape;612;p56"/>
          <p:cNvSpPr txBox="1"/>
          <p:nvPr>
            <p:ph idx="6" type="subTitle"/>
          </p:nvPr>
        </p:nvSpPr>
        <p:spPr>
          <a:xfrm>
            <a:off x="1645119" y="4202387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Conclusion</a:t>
            </a:r>
            <a:endParaRPr sz="1975">
              <a:solidFill>
                <a:schemeClr val="lt2"/>
              </a:solidFill>
            </a:endParaRPr>
          </a:p>
        </p:txBody>
      </p:sp>
      <p:sp>
        <p:nvSpPr>
          <p:cNvPr id="613" name="Google Shape;613;p56"/>
          <p:cNvSpPr/>
          <p:nvPr/>
        </p:nvSpPr>
        <p:spPr>
          <a:xfrm>
            <a:off x="1356090" y="3481446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4" name="Google Shape;614;p56"/>
          <p:cNvSpPr txBox="1"/>
          <p:nvPr>
            <p:ph idx="3" type="subTitle"/>
          </p:nvPr>
        </p:nvSpPr>
        <p:spPr>
          <a:xfrm>
            <a:off x="1559682" y="3473180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Data Analysis</a:t>
            </a:r>
            <a:endParaRPr sz="1975">
              <a:solidFill>
                <a:schemeClr val="lt2"/>
              </a:solidFill>
            </a:endParaRPr>
          </a:p>
        </p:txBody>
      </p:sp>
      <p:sp>
        <p:nvSpPr>
          <p:cNvPr id="615" name="Google Shape;615;p56"/>
          <p:cNvSpPr/>
          <p:nvPr/>
        </p:nvSpPr>
        <p:spPr>
          <a:xfrm>
            <a:off x="1356075" y="3841612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6" name="Google Shape;616;p56"/>
          <p:cNvSpPr txBox="1"/>
          <p:nvPr>
            <p:ph idx="3" type="subTitle"/>
          </p:nvPr>
        </p:nvSpPr>
        <p:spPr>
          <a:xfrm>
            <a:off x="1559667" y="3831995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Predictive Analysis with ML</a:t>
            </a:r>
            <a:endParaRPr sz="1975">
              <a:solidFill>
                <a:schemeClr val="lt2"/>
              </a:solidFill>
            </a:endParaRPr>
          </a:p>
        </p:txBody>
      </p:sp>
      <p:sp>
        <p:nvSpPr>
          <p:cNvPr id="617" name="Google Shape;617;p56"/>
          <p:cNvSpPr/>
          <p:nvPr/>
        </p:nvSpPr>
        <p:spPr>
          <a:xfrm>
            <a:off x="1356090" y="1555409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8" name="Google Shape;618;p56"/>
          <p:cNvSpPr txBox="1"/>
          <p:nvPr>
            <p:ph idx="1" type="subTitle"/>
          </p:nvPr>
        </p:nvSpPr>
        <p:spPr>
          <a:xfrm>
            <a:off x="1645119" y="1556032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Introduction</a:t>
            </a:r>
            <a:endParaRPr sz="1975">
              <a:solidFill>
                <a:schemeClr val="lt2"/>
              </a:solidFill>
            </a:endParaRPr>
          </a:p>
        </p:txBody>
      </p:sp>
      <p:sp>
        <p:nvSpPr>
          <p:cNvPr id="619" name="Google Shape;619;p56"/>
          <p:cNvSpPr/>
          <p:nvPr/>
        </p:nvSpPr>
        <p:spPr>
          <a:xfrm>
            <a:off x="1356090" y="4561305"/>
            <a:ext cx="187500" cy="204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0" name="Google Shape;620;p56"/>
          <p:cNvSpPr txBox="1"/>
          <p:nvPr>
            <p:ph idx="6" type="subTitle"/>
          </p:nvPr>
        </p:nvSpPr>
        <p:spPr>
          <a:xfrm>
            <a:off x="1645119" y="4561929"/>
            <a:ext cx="3308100" cy="350400"/>
          </a:xfrm>
          <a:prstGeom prst="rect">
            <a:avLst/>
          </a:prstGeom>
        </p:spPr>
        <p:txBody>
          <a:bodyPr anchorCtr="0" anchor="b" bIns="106250" lIns="106250" spcFirstLastPara="1" rIns="106250" wrap="square" tIns="10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5">
                <a:solidFill>
                  <a:schemeClr val="lt2"/>
                </a:solidFill>
              </a:rPr>
              <a:t>Q &amp; A</a:t>
            </a:r>
            <a:endParaRPr sz="1975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7"/>
          <p:cNvSpPr txBox="1"/>
          <p:nvPr>
            <p:ph idx="1" type="subTitle"/>
          </p:nvPr>
        </p:nvSpPr>
        <p:spPr>
          <a:xfrm>
            <a:off x="3948800" y="973675"/>
            <a:ext cx="4941000" cy="3992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❏"/>
            </a:pPr>
            <a:r>
              <a:rPr lang="en">
                <a:solidFill>
                  <a:srgbClr val="EFEFEF"/>
                </a:solidFill>
              </a:rPr>
              <a:t>T</a:t>
            </a:r>
            <a:r>
              <a:rPr lang="en" sz="1600">
                <a:solidFill>
                  <a:srgbClr val="EFEFEF"/>
                </a:solidFill>
              </a:rPr>
              <a:t>his project examines compensation data among San Francisco city employee compensation, using the SF Salaries dataset (2011-2014).</a:t>
            </a:r>
            <a:endParaRPr sz="16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FEFE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FEFE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Char char="❏"/>
            </a:pPr>
            <a:r>
              <a:rPr lang="en" sz="1600">
                <a:solidFill>
                  <a:srgbClr val="EFEFEF"/>
                </a:solidFill>
              </a:rPr>
              <a:t>Key Findings include workforce distribution patterns (Top 1000 jobs) and pay disparities, leveraging Elastic Search ML for cleaning and aggregation.</a:t>
            </a:r>
            <a:endParaRPr sz="1600">
              <a:solidFill>
                <a:srgbClr val="EFEFE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FEFE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Char char="❏"/>
            </a:pPr>
            <a:r>
              <a:rPr lang="en" sz="1600">
                <a:solidFill>
                  <a:srgbClr val="EFEFEF"/>
                </a:solidFill>
              </a:rPr>
              <a:t>ElasticSearch was used for large-scale data indexing, cleaning, and </a:t>
            </a:r>
            <a:r>
              <a:rPr lang="en" sz="1600">
                <a:solidFill>
                  <a:srgbClr val="EFEFEF"/>
                </a:solidFill>
              </a:rPr>
              <a:t>aggregation</a:t>
            </a:r>
            <a:r>
              <a:rPr lang="en" sz="1600">
                <a:solidFill>
                  <a:srgbClr val="EFEFEF"/>
                </a:solidFill>
              </a:rPr>
              <a:t>. ElasticSearch ML, Cloud, and visualization tools helped provide insights for budgeting and HR decision-making.</a:t>
            </a:r>
            <a:endParaRPr sz="16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6" name="Google Shape;626;p57"/>
          <p:cNvSpPr txBox="1"/>
          <p:nvPr>
            <p:ph type="title"/>
          </p:nvPr>
        </p:nvSpPr>
        <p:spPr>
          <a:xfrm>
            <a:off x="3936050" y="1633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8"/>
          <p:cNvSpPr txBox="1"/>
          <p:nvPr>
            <p:ph idx="1" type="subTitle"/>
          </p:nvPr>
        </p:nvSpPr>
        <p:spPr>
          <a:xfrm>
            <a:off x="3727450" y="751050"/>
            <a:ext cx="5187900" cy="43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Importance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Inefficiencies</a:t>
            </a:r>
            <a:r>
              <a:rPr lang="en">
                <a:solidFill>
                  <a:schemeClr val="dk2"/>
                </a:solidFill>
              </a:rPr>
              <a:t> with personnel management and budgeting can cause compensation imbalance. 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Public salaries are significant portions of municipal budgets.</a:t>
            </a:r>
            <a:endParaRPr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Objective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Identify potential inequalities and overtime dependence.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Support </a:t>
            </a:r>
            <a:r>
              <a:rPr lang="en">
                <a:solidFill>
                  <a:schemeClr val="dk2"/>
                </a:solidFill>
              </a:rPr>
              <a:t>public</a:t>
            </a:r>
            <a:r>
              <a:rPr lang="en">
                <a:solidFill>
                  <a:schemeClr val="dk2"/>
                </a:solidFill>
              </a:rPr>
              <a:t> policy decisions regarding pay fairness.</a:t>
            </a:r>
            <a:endParaRPr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Research </a:t>
            </a:r>
            <a:r>
              <a:rPr lang="en">
                <a:solidFill>
                  <a:schemeClr val="lt2"/>
                </a:solidFill>
              </a:rPr>
              <a:t>Approach</a:t>
            </a:r>
            <a:r>
              <a:rPr lang="en">
                <a:solidFill>
                  <a:schemeClr val="lt2"/>
                </a:solidFill>
              </a:rPr>
              <a:t>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</a:rPr>
              <a:t>Use ElasticSearch to aggregate data points, perform scalable data analysis, and generate actionable insights.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2" name="Google Shape;632;p58"/>
          <p:cNvSpPr txBox="1"/>
          <p:nvPr>
            <p:ph type="title"/>
          </p:nvPr>
        </p:nvSpPr>
        <p:spPr>
          <a:xfrm>
            <a:off x="3948800" y="1633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9"/>
          <p:cNvSpPr/>
          <p:nvPr/>
        </p:nvSpPr>
        <p:spPr>
          <a:xfrm>
            <a:off x="3689018" y="155381"/>
            <a:ext cx="1997100" cy="736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4725" lIns="214725" spcFirstLastPara="1" rIns="214725" wrap="square" tIns="2147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48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38" name="Google Shape;638;p59"/>
          <p:cNvSpPr/>
          <p:nvPr/>
        </p:nvSpPr>
        <p:spPr>
          <a:xfrm>
            <a:off x="5674615" y="135239"/>
            <a:ext cx="3064500" cy="807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50" lIns="180050" spcFirstLastPara="1" rIns="180050" wrap="square" tIns="180050">
            <a:noAutofit/>
          </a:bodyPr>
          <a:lstStyle/>
          <a:p>
            <a:pPr indent="0" lvl="0" marL="2250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39" name="Google Shape;639;p59"/>
          <p:cNvSpPr/>
          <p:nvPr/>
        </p:nvSpPr>
        <p:spPr>
          <a:xfrm>
            <a:off x="3659950" y="1265425"/>
            <a:ext cx="2222700" cy="629700"/>
          </a:xfrm>
          <a:prstGeom prst="snip2DiagRect">
            <a:avLst>
              <a:gd fmla="val 905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525" lIns="174525" spcFirstLastPara="1" rIns="174525" wrap="square" tIns="1745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8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40" name="Google Shape;640;p59"/>
          <p:cNvSpPr/>
          <p:nvPr/>
        </p:nvSpPr>
        <p:spPr>
          <a:xfrm>
            <a:off x="5881040" y="1324838"/>
            <a:ext cx="2791200" cy="57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8050" lIns="158050" spcFirstLastPara="1" rIns="158050" wrap="square" tIns="158050">
            <a:noAutofit/>
          </a:bodyPr>
          <a:lstStyle/>
          <a:p>
            <a:pPr indent="0" lvl="0" marL="19760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8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41" name="Google Shape;641;p59"/>
          <p:cNvSpPr/>
          <p:nvPr/>
        </p:nvSpPr>
        <p:spPr>
          <a:xfrm>
            <a:off x="3576225" y="2268433"/>
            <a:ext cx="2222700" cy="6060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5525" lIns="205525" spcFirstLastPara="1" rIns="205525" wrap="square" tIns="2055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47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42" name="Google Shape;642;p59"/>
          <p:cNvSpPr/>
          <p:nvPr/>
        </p:nvSpPr>
        <p:spPr>
          <a:xfrm flipH="1">
            <a:off x="5756850" y="2275650"/>
            <a:ext cx="2791200" cy="2787300"/>
          </a:xfrm>
          <a:prstGeom prst="snip2DiagRect">
            <a:avLst>
              <a:gd fmla="val 0" name="adj1"/>
              <a:gd fmla="val 22036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925" lIns="104925" spcFirstLastPara="1" rIns="104925" wrap="square" tIns="104925">
            <a:noAutofit/>
          </a:bodyPr>
          <a:lstStyle/>
          <a:p>
            <a:pPr indent="0" lvl="0" marL="13118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7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43" name="Google Shape;643;p59"/>
          <p:cNvSpPr txBox="1"/>
          <p:nvPr>
            <p:ph type="title"/>
          </p:nvPr>
        </p:nvSpPr>
        <p:spPr>
          <a:xfrm>
            <a:off x="511425" y="977725"/>
            <a:ext cx="2454000" cy="1205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Dataset Overview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(Content)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4" name="Google Shape;644;p59"/>
          <p:cNvSpPr txBox="1"/>
          <p:nvPr>
            <p:ph idx="2" type="subTitle"/>
          </p:nvPr>
        </p:nvSpPr>
        <p:spPr>
          <a:xfrm flipH="1">
            <a:off x="3636175" y="2169675"/>
            <a:ext cx="1997100" cy="741600"/>
          </a:xfrm>
          <a:prstGeom prst="rect">
            <a:avLst/>
          </a:prstGeom>
        </p:spPr>
        <p:txBody>
          <a:bodyPr anchorCtr="0" anchor="ctr" bIns="205525" lIns="205525" spcFirstLastPara="1" rIns="205525" wrap="square" tIns="205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0">
                <a:solidFill>
                  <a:schemeClr val="lt2"/>
                </a:solidFill>
              </a:rPr>
              <a:t>Dataset Attributes</a:t>
            </a:r>
            <a:endParaRPr sz="1980">
              <a:solidFill>
                <a:schemeClr val="lt2"/>
              </a:solidFill>
            </a:endParaRPr>
          </a:p>
        </p:txBody>
      </p:sp>
      <p:sp>
        <p:nvSpPr>
          <p:cNvPr id="645" name="Google Shape;645;p59"/>
          <p:cNvSpPr txBox="1"/>
          <p:nvPr>
            <p:ph idx="3" type="subTitle"/>
          </p:nvPr>
        </p:nvSpPr>
        <p:spPr>
          <a:xfrm flipH="1">
            <a:off x="5907450" y="2510650"/>
            <a:ext cx="2686500" cy="2332200"/>
          </a:xfrm>
          <a:prstGeom prst="rect">
            <a:avLst/>
          </a:prstGeom>
        </p:spPr>
        <p:txBody>
          <a:bodyPr anchorCtr="0" anchor="ctr" bIns="104925" lIns="104925" spcFirstLastPara="1" rIns="104925" wrap="square" tIns="10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36">
                <a:solidFill>
                  <a:schemeClr val="lt2"/>
                </a:solidFill>
              </a:rPr>
              <a:t>Job Information: </a:t>
            </a:r>
            <a:endParaRPr sz="1836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36"/>
              <a:t>Job Title &amp; Department</a:t>
            </a:r>
            <a:endParaRPr sz="1836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36">
                <a:solidFill>
                  <a:schemeClr val="lt2"/>
                </a:solidFill>
              </a:rPr>
              <a:t>Employee Details:</a:t>
            </a:r>
            <a:r>
              <a:rPr lang="en" sz="1836"/>
              <a:t> Employee ID &amp; Employee Name</a:t>
            </a:r>
            <a:endParaRPr sz="1836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36">
                <a:solidFill>
                  <a:schemeClr val="lt2"/>
                </a:solidFill>
              </a:rPr>
              <a:t>Salary Details: </a:t>
            </a:r>
            <a:endParaRPr sz="1836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36"/>
              <a:t>Base Pay, Overtime Pay, Other Pay &amp; Benefits</a:t>
            </a:r>
            <a:endParaRPr sz="1836"/>
          </a:p>
        </p:txBody>
      </p:sp>
      <p:sp>
        <p:nvSpPr>
          <p:cNvPr id="646" name="Google Shape;646;p59"/>
          <p:cNvSpPr txBox="1"/>
          <p:nvPr>
            <p:ph idx="4" type="subTitle"/>
          </p:nvPr>
        </p:nvSpPr>
        <p:spPr>
          <a:xfrm>
            <a:off x="5965207" y="92075"/>
            <a:ext cx="3064500" cy="1058700"/>
          </a:xfrm>
          <a:prstGeom prst="rect">
            <a:avLst/>
          </a:prstGeom>
        </p:spPr>
        <p:txBody>
          <a:bodyPr anchorCtr="0" anchor="ctr" bIns="180050" lIns="180050" spcFirstLastPara="1" rIns="180050" wrap="square" tIns="18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69">
                <a:solidFill>
                  <a:schemeClr val="dk2"/>
                </a:solidFill>
              </a:rPr>
              <a:t>14 MB approximately 150,000 rows</a:t>
            </a:r>
            <a:endParaRPr sz="1969">
              <a:solidFill>
                <a:schemeClr val="dk2"/>
              </a:solidFill>
            </a:endParaRPr>
          </a:p>
        </p:txBody>
      </p:sp>
      <p:sp>
        <p:nvSpPr>
          <p:cNvPr id="647" name="Google Shape;647;p59"/>
          <p:cNvSpPr txBox="1"/>
          <p:nvPr>
            <p:ph idx="5" type="subTitle"/>
          </p:nvPr>
        </p:nvSpPr>
        <p:spPr>
          <a:xfrm>
            <a:off x="6302999" y="1324833"/>
            <a:ext cx="2258100" cy="570600"/>
          </a:xfrm>
          <a:prstGeom prst="rect">
            <a:avLst/>
          </a:prstGeom>
        </p:spPr>
        <p:txBody>
          <a:bodyPr anchorCtr="0" anchor="ctr" bIns="158050" lIns="158050" spcFirstLastPara="1" rIns="158050" wrap="square" tIns="15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2">
                <a:solidFill>
                  <a:schemeClr val="dk2"/>
                </a:solidFill>
              </a:rPr>
              <a:t>2011 - 2014</a:t>
            </a:r>
            <a:endParaRPr sz="1972">
              <a:solidFill>
                <a:schemeClr val="dk2"/>
              </a:solidFill>
            </a:endParaRPr>
          </a:p>
        </p:txBody>
      </p:sp>
      <p:sp>
        <p:nvSpPr>
          <p:cNvPr id="648" name="Google Shape;648;p59"/>
          <p:cNvSpPr txBox="1"/>
          <p:nvPr>
            <p:ph idx="6" type="subTitle"/>
          </p:nvPr>
        </p:nvSpPr>
        <p:spPr>
          <a:xfrm>
            <a:off x="3665279" y="155383"/>
            <a:ext cx="2258100" cy="736800"/>
          </a:xfrm>
          <a:prstGeom prst="rect">
            <a:avLst/>
          </a:prstGeom>
        </p:spPr>
        <p:txBody>
          <a:bodyPr anchorCtr="0" anchor="ctr" bIns="214725" lIns="214725" spcFirstLastPara="1" rIns="214725" wrap="square" tIns="21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48">
                <a:solidFill>
                  <a:schemeClr val="lt2"/>
                </a:solidFill>
              </a:rPr>
              <a:t>Dataset Size</a:t>
            </a:r>
            <a:endParaRPr sz="2348">
              <a:solidFill>
                <a:schemeClr val="lt2"/>
              </a:solidFill>
            </a:endParaRPr>
          </a:p>
        </p:txBody>
      </p:sp>
      <p:sp>
        <p:nvSpPr>
          <p:cNvPr id="649" name="Google Shape;649;p59"/>
          <p:cNvSpPr txBox="1"/>
          <p:nvPr>
            <p:ph idx="7" type="subTitle"/>
          </p:nvPr>
        </p:nvSpPr>
        <p:spPr>
          <a:xfrm>
            <a:off x="3842181" y="1265454"/>
            <a:ext cx="1794900" cy="629700"/>
          </a:xfrm>
          <a:prstGeom prst="rect">
            <a:avLst/>
          </a:prstGeom>
        </p:spPr>
        <p:txBody>
          <a:bodyPr anchorCtr="0" anchor="ctr" bIns="174525" lIns="174525" spcFirstLastPara="1" rIns="174525" wrap="square" tIns="174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15">
                <a:solidFill>
                  <a:schemeClr val="lt2"/>
                </a:solidFill>
              </a:rPr>
              <a:t>Timescale</a:t>
            </a:r>
            <a:endParaRPr sz="2315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0"/>
          <p:cNvSpPr txBox="1"/>
          <p:nvPr>
            <p:ph type="title"/>
          </p:nvPr>
        </p:nvSpPr>
        <p:spPr>
          <a:xfrm>
            <a:off x="2213400" y="163350"/>
            <a:ext cx="47172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Dataset Overview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55" name="Google Shape;65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425" y="816300"/>
            <a:ext cx="7865151" cy="420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1"/>
          <p:cNvSpPr/>
          <p:nvPr/>
        </p:nvSpPr>
        <p:spPr>
          <a:xfrm>
            <a:off x="50" y="1523441"/>
            <a:ext cx="2983800" cy="2777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225" lIns="96225" spcFirstLastPara="1" rIns="96225" wrap="square" tIns="96225">
            <a:noAutofit/>
          </a:bodyPr>
          <a:lstStyle/>
          <a:p>
            <a:pPr indent="0" lvl="0" marL="0" marR="284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3">
              <a:solidFill>
                <a:schemeClr val="lt1"/>
              </a:solidFill>
            </a:endParaRPr>
          </a:p>
        </p:txBody>
      </p:sp>
      <p:cxnSp>
        <p:nvCxnSpPr>
          <p:cNvPr id="661" name="Google Shape;661;p61"/>
          <p:cNvCxnSpPr/>
          <p:nvPr/>
        </p:nvCxnSpPr>
        <p:spPr>
          <a:xfrm>
            <a:off x="4576" y="2587978"/>
            <a:ext cx="29778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p61"/>
          <p:cNvSpPr/>
          <p:nvPr/>
        </p:nvSpPr>
        <p:spPr>
          <a:xfrm>
            <a:off x="3080103" y="1523441"/>
            <a:ext cx="2983800" cy="2777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225" lIns="96225" spcFirstLastPara="1" rIns="96225" wrap="square" tIns="96225">
            <a:noAutofit/>
          </a:bodyPr>
          <a:lstStyle/>
          <a:p>
            <a:pPr indent="0" lvl="0" marL="0" marR="284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3">
              <a:solidFill>
                <a:schemeClr val="lt1"/>
              </a:solidFill>
            </a:endParaRPr>
          </a:p>
        </p:txBody>
      </p:sp>
      <p:cxnSp>
        <p:nvCxnSpPr>
          <p:cNvPr id="663" name="Google Shape;663;p61"/>
          <p:cNvCxnSpPr/>
          <p:nvPr/>
        </p:nvCxnSpPr>
        <p:spPr>
          <a:xfrm>
            <a:off x="3084629" y="2587978"/>
            <a:ext cx="29778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4" name="Google Shape;664;p61"/>
          <p:cNvSpPr/>
          <p:nvPr/>
        </p:nvSpPr>
        <p:spPr>
          <a:xfrm>
            <a:off x="6160155" y="1523441"/>
            <a:ext cx="2983800" cy="2777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225" lIns="96225" spcFirstLastPara="1" rIns="96225" wrap="square" tIns="96225">
            <a:noAutofit/>
          </a:bodyPr>
          <a:lstStyle/>
          <a:p>
            <a:pPr indent="0" lvl="0" marL="0" marR="284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3">
              <a:solidFill>
                <a:schemeClr val="lt1"/>
              </a:solidFill>
            </a:endParaRPr>
          </a:p>
        </p:txBody>
      </p:sp>
      <p:cxnSp>
        <p:nvCxnSpPr>
          <p:cNvPr id="665" name="Google Shape;665;p61"/>
          <p:cNvCxnSpPr/>
          <p:nvPr/>
        </p:nvCxnSpPr>
        <p:spPr>
          <a:xfrm>
            <a:off x="6164682" y="2587978"/>
            <a:ext cx="29778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61"/>
          <p:cNvSpPr txBox="1"/>
          <p:nvPr>
            <p:ph type="title"/>
          </p:nvPr>
        </p:nvSpPr>
        <p:spPr>
          <a:xfrm>
            <a:off x="-85500" y="87742"/>
            <a:ext cx="64803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Our Work</a:t>
            </a:r>
            <a:endParaRPr sz="4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67" name="Google Shape;667;p61"/>
          <p:cNvSpPr txBox="1"/>
          <p:nvPr>
            <p:ph idx="1" type="subTitle"/>
          </p:nvPr>
        </p:nvSpPr>
        <p:spPr>
          <a:xfrm>
            <a:off x="80742" y="1803471"/>
            <a:ext cx="2447400" cy="618600"/>
          </a:xfrm>
          <a:prstGeom prst="rect">
            <a:avLst/>
          </a:prstGeom>
        </p:spPr>
        <p:txBody>
          <a:bodyPr anchorCtr="0" anchor="t" bIns="96225" lIns="96225" spcFirstLastPara="1" rIns="96225" wrap="square" tIns="9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ElasticSearch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668" name="Google Shape;668;p61"/>
          <p:cNvSpPr txBox="1"/>
          <p:nvPr>
            <p:ph idx="2" type="subTitle"/>
          </p:nvPr>
        </p:nvSpPr>
        <p:spPr>
          <a:xfrm>
            <a:off x="329750" y="2753875"/>
            <a:ext cx="2654100" cy="1547400"/>
          </a:xfrm>
          <a:prstGeom prst="rect">
            <a:avLst/>
          </a:prstGeom>
        </p:spPr>
        <p:txBody>
          <a:bodyPr anchorCtr="0" anchor="t" bIns="96225" lIns="96225" spcFirstLastPara="1" rIns="96225" wrap="square" tIns="96225">
            <a:noAutofit/>
          </a:bodyPr>
          <a:lstStyle/>
          <a:p>
            <a:pPr indent="-3271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3"/>
              <a:buChar char="❏"/>
            </a:pPr>
            <a:r>
              <a:rPr lang="en" sz="1552">
                <a:solidFill>
                  <a:schemeClr val="dk2"/>
                </a:solidFill>
              </a:rPr>
              <a:t>A visual reporting of workforce distribution</a:t>
            </a:r>
            <a:endParaRPr sz="1552">
              <a:solidFill>
                <a:schemeClr val="dk2"/>
              </a:solidFill>
            </a:endParaRPr>
          </a:p>
          <a:p>
            <a:pPr indent="-3271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3"/>
              <a:buChar char="❏"/>
            </a:pPr>
            <a:r>
              <a:rPr lang="en" sz="1552">
                <a:solidFill>
                  <a:schemeClr val="dk2"/>
                </a:solidFill>
              </a:rPr>
              <a:t>Compare with available public payroll records for comparison</a:t>
            </a:r>
            <a:endParaRPr sz="1052"/>
          </a:p>
        </p:txBody>
      </p:sp>
      <p:sp>
        <p:nvSpPr>
          <p:cNvPr id="669" name="Google Shape;669;p61"/>
          <p:cNvSpPr txBox="1"/>
          <p:nvPr>
            <p:ph idx="4" type="subTitle"/>
          </p:nvPr>
        </p:nvSpPr>
        <p:spPr>
          <a:xfrm>
            <a:off x="3292050" y="2753875"/>
            <a:ext cx="2697300" cy="1547400"/>
          </a:xfrm>
          <a:prstGeom prst="rect">
            <a:avLst/>
          </a:prstGeom>
        </p:spPr>
        <p:txBody>
          <a:bodyPr anchorCtr="0" anchor="t" bIns="96225" lIns="96225" spcFirstLastPara="1" rIns="96225" wrap="square" tIns="96225">
            <a:noAutofit/>
          </a:bodyPr>
          <a:lstStyle/>
          <a:p>
            <a:pPr indent="-3271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3"/>
              <a:buChar char="❏"/>
            </a:pPr>
            <a:r>
              <a:rPr lang="en" sz="1552">
                <a:solidFill>
                  <a:schemeClr val="dk2"/>
                </a:solidFill>
              </a:rPr>
              <a:t>Performed </a:t>
            </a:r>
            <a:r>
              <a:rPr lang="en" sz="1552">
                <a:solidFill>
                  <a:schemeClr val="dk2"/>
                </a:solidFill>
              </a:rPr>
              <a:t>regression</a:t>
            </a:r>
            <a:r>
              <a:rPr lang="en" sz="1552">
                <a:solidFill>
                  <a:schemeClr val="dk2"/>
                </a:solidFill>
              </a:rPr>
              <a:t> analysis on the data set</a:t>
            </a:r>
            <a:endParaRPr sz="1552">
              <a:solidFill>
                <a:schemeClr val="dk2"/>
              </a:solidFill>
            </a:endParaRPr>
          </a:p>
          <a:p>
            <a:pPr indent="-3271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3"/>
              <a:buChar char="❏"/>
            </a:pPr>
            <a:r>
              <a:rPr lang="en" sz="1552">
                <a:solidFill>
                  <a:schemeClr val="dk2"/>
                </a:solidFill>
              </a:rPr>
              <a:t>Our model received a 90% accuracy score</a:t>
            </a:r>
            <a:endParaRPr sz="1552">
              <a:solidFill>
                <a:schemeClr val="dk2"/>
              </a:solidFill>
            </a:endParaRPr>
          </a:p>
          <a:p>
            <a:pPr indent="0" lvl="0" marL="20213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2"/>
          </a:p>
        </p:txBody>
      </p:sp>
      <p:sp>
        <p:nvSpPr>
          <p:cNvPr id="670" name="Google Shape;670;p61"/>
          <p:cNvSpPr txBox="1"/>
          <p:nvPr>
            <p:ph idx="6" type="subTitle"/>
          </p:nvPr>
        </p:nvSpPr>
        <p:spPr>
          <a:xfrm>
            <a:off x="6488500" y="2753875"/>
            <a:ext cx="2447400" cy="1547400"/>
          </a:xfrm>
          <a:prstGeom prst="rect">
            <a:avLst/>
          </a:prstGeom>
        </p:spPr>
        <p:txBody>
          <a:bodyPr anchorCtr="0" anchor="t" bIns="96225" lIns="96225" spcFirstLastPara="1" rIns="96225" wrap="square" tIns="96225">
            <a:noAutofit/>
          </a:bodyPr>
          <a:lstStyle/>
          <a:p>
            <a:pPr indent="-3271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3"/>
              <a:buChar char="❏"/>
            </a:pPr>
            <a:r>
              <a:rPr lang="en" sz="1552">
                <a:solidFill>
                  <a:schemeClr val="dk2"/>
                </a:solidFill>
              </a:rPr>
              <a:t>Created dashboard</a:t>
            </a:r>
            <a:endParaRPr sz="1552">
              <a:solidFill>
                <a:schemeClr val="dk2"/>
              </a:solidFill>
            </a:endParaRPr>
          </a:p>
          <a:p>
            <a:pPr indent="-3271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3"/>
              <a:buChar char="❏"/>
            </a:pPr>
            <a:r>
              <a:rPr lang="en" sz="1552">
                <a:solidFill>
                  <a:schemeClr val="dk2"/>
                </a:solidFill>
              </a:rPr>
              <a:t>Treemap to illustrate job spread</a:t>
            </a:r>
            <a:endParaRPr sz="1552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2">
              <a:solidFill>
                <a:schemeClr val="dk2"/>
              </a:solidFill>
            </a:endParaRPr>
          </a:p>
        </p:txBody>
      </p:sp>
      <p:sp>
        <p:nvSpPr>
          <p:cNvPr id="671" name="Google Shape;671;p61"/>
          <p:cNvSpPr txBox="1"/>
          <p:nvPr>
            <p:ph idx="1" type="subTitle"/>
          </p:nvPr>
        </p:nvSpPr>
        <p:spPr>
          <a:xfrm>
            <a:off x="3080100" y="1755850"/>
            <a:ext cx="2983800" cy="618600"/>
          </a:xfrm>
          <a:prstGeom prst="rect">
            <a:avLst/>
          </a:prstGeom>
        </p:spPr>
        <p:txBody>
          <a:bodyPr anchorCtr="0" anchor="t" bIns="96225" lIns="96225" spcFirstLastPara="1" rIns="96225" wrap="square" tIns="9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Machine Learning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672" name="Google Shape;672;p61"/>
          <p:cNvSpPr txBox="1"/>
          <p:nvPr>
            <p:ph idx="1" type="subTitle"/>
          </p:nvPr>
        </p:nvSpPr>
        <p:spPr>
          <a:xfrm>
            <a:off x="6355892" y="1755846"/>
            <a:ext cx="2447400" cy="618600"/>
          </a:xfrm>
          <a:prstGeom prst="rect">
            <a:avLst/>
          </a:prstGeom>
        </p:spPr>
        <p:txBody>
          <a:bodyPr anchorCtr="0" anchor="t" bIns="96225" lIns="96225" spcFirstLastPara="1" rIns="96225" wrap="square" tIns="9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Visualization</a:t>
            </a:r>
            <a:endParaRPr sz="2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2"/>
          <p:cNvSpPr txBox="1"/>
          <p:nvPr>
            <p:ph type="title"/>
          </p:nvPr>
        </p:nvSpPr>
        <p:spPr>
          <a:xfrm>
            <a:off x="574575" y="352775"/>
            <a:ext cx="63153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Implementation (KPIs)</a:t>
            </a:r>
            <a:endParaRPr sz="4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78" name="Google Shape;678;p62"/>
          <p:cNvSpPr txBox="1"/>
          <p:nvPr>
            <p:ph idx="6" type="body"/>
          </p:nvPr>
        </p:nvSpPr>
        <p:spPr>
          <a:xfrm>
            <a:off x="152400" y="1193200"/>
            <a:ext cx="3547500" cy="37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Key Performance Indicators</a:t>
            </a:r>
            <a:endParaRPr sz="1500">
              <a:solidFill>
                <a:schemeClr val="lt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JobTitle shows leading jobs in the San </a:t>
            </a: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Francisco</a:t>
            </a: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 area</a:t>
            </a: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TotalPay benefits is the </a:t>
            </a: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accumulation</a:t>
            </a: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 of </a:t>
            </a: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total</a:t>
            </a: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 compensation after  all  other pay had been added</a:t>
            </a: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BasePay indicates hourly compensation before benefits, overtime, and other pay</a:t>
            </a: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pic>
        <p:nvPicPr>
          <p:cNvPr id="679" name="Google Shape;679;p62"/>
          <p:cNvPicPr preferRelativeResize="0"/>
          <p:nvPr/>
        </p:nvPicPr>
        <p:blipFill rotWithShape="1">
          <a:blip r:embed="rId3">
            <a:alphaModFix/>
          </a:blip>
          <a:srcRect b="0" l="0" r="26766" t="4933"/>
          <a:stretch/>
        </p:blipFill>
        <p:spPr>
          <a:xfrm>
            <a:off x="4114600" y="1193163"/>
            <a:ext cx="4915100" cy="37191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3"/>
          <p:cNvSpPr txBox="1"/>
          <p:nvPr>
            <p:ph type="title"/>
          </p:nvPr>
        </p:nvSpPr>
        <p:spPr>
          <a:xfrm>
            <a:off x="517425" y="457200"/>
            <a:ext cx="69153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</a:rPr>
              <a:t>Implementation (Data Engineering)</a:t>
            </a:r>
            <a:endParaRPr sz="3300">
              <a:solidFill>
                <a:schemeClr val="lt1"/>
              </a:solidFill>
            </a:endParaRPr>
          </a:p>
        </p:txBody>
      </p:sp>
      <p:sp>
        <p:nvSpPr>
          <p:cNvPr id="685" name="Google Shape;685;p63"/>
          <p:cNvSpPr txBox="1"/>
          <p:nvPr>
            <p:ph idx="6" type="body"/>
          </p:nvPr>
        </p:nvSpPr>
        <p:spPr>
          <a:xfrm>
            <a:off x="152400" y="1193200"/>
            <a:ext cx="3547500" cy="37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Key Implementation Steps:</a:t>
            </a:r>
            <a:endParaRPr sz="1350">
              <a:solidFill>
                <a:schemeClr val="lt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AutoNum type="arabicPeriod"/>
            </a:pPr>
            <a:r>
              <a:rPr lang="en" sz="135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Data Upload : Imported CSV using Elastic ML Data Visualizer.</a:t>
            </a:r>
            <a:br>
              <a:rPr lang="en" sz="135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35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AutoNum type="arabicPeriod"/>
            </a:pPr>
            <a:r>
              <a:rPr lang="en" sz="135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Data Cleaning: Handled missing values, normalized compensation fields.</a:t>
            </a:r>
            <a:br>
              <a:rPr lang="en" sz="135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35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AutoNum type="arabicPeriod"/>
            </a:pPr>
            <a:r>
              <a:rPr lang="en" sz="135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Mapping Fix: Added keyword sub-field for JobTitle to resolve ML errors.</a:t>
            </a:r>
            <a:br>
              <a:rPr lang="en" sz="135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35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AutoNum type="arabicPeriod"/>
            </a:pPr>
            <a:r>
              <a:rPr lang="en" sz="135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Reindexing: Moved data to new index sf_salaries_fixed.</a:t>
            </a:r>
            <a:br>
              <a:rPr lang="en" sz="135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35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AutoNum type="arabicPeriod"/>
            </a:pPr>
            <a:r>
              <a:rPr lang="en" sz="135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Modeling: Created regression ML job</a:t>
            </a:r>
            <a:r>
              <a:rPr lang="en" sz="1350">
                <a:solidFill>
                  <a:schemeClr val="dk2"/>
                </a:solidFill>
              </a:rPr>
              <a:t>.</a:t>
            </a:r>
            <a:endParaRPr sz="1350">
              <a:solidFill>
                <a:schemeClr val="dk2"/>
              </a:solidFill>
            </a:endParaRPr>
          </a:p>
        </p:txBody>
      </p:sp>
      <p:pic>
        <p:nvPicPr>
          <p:cNvPr id="686" name="Google Shape;686;p63"/>
          <p:cNvPicPr preferRelativeResize="0"/>
          <p:nvPr/>
        </p:nvPicPr>
        <p:blipFill rotWithShape="1">
          <a:blip r:embed="rId3">
            <a:alphaModFix/>
          </a:blip>
          <a:srcRect b="0" l="0" r="26766" t="4933"/>
          <a:stretch/>
        </p:blipFill>
        <p:spPr>
          <a:xfrm>
            <a:off x="4114600" y="1193163"/>
            <a:ext cx="4915100" cy="37191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4"/>
          <p:cNvSpPr txBox="1"/>
          <p:nvPr>
            <p:ph type="title"/>
          </p:nvPr>
        </p:nvSpPr>
        <p:spPr>
          <a:xfrm>
            <a:off x="498475" y="228600"/>
            <a:ext cx="4273800" cy="96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Data Analysis: Job Title Treemap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692" name="Google Shape;692;p64"/>
          <p:cNvSpPr txBox="1"/>
          <p:nvPr>
            <p:ph idx="6" type="body"/>
          </p:nvPr>
        </p:nvSpPr>
        <p:spPr>
          <a:xfrm>
            <a:off x="97700" y="1189200"/>
            <a:ext cx="4182300" cy="398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Insights</a:t>
            </a:r>
            <a:endParaRPr sz="2000">
              <a:solidFill>
                <a:schemeClr val="lt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ed Hat Display SemiBold"/>
              <a:buChar char="❏"/>
            </a:pPr>
            <a:r>
              <a:rPr lang="en" sz="2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Transit Operator is most common role (4.93%).</a:t>
            </a:r>
            <a:br>
              <a:rPr lang="en" sz="2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2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ed Hat Display SemiBold"/>
              <a:buChar char="❏"/>
            </a:pPr>
            <a:r>
              <a:rPr lang="en" sz="2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Public safety and transportation roles dominate workforce distribution.</a:t>
            </a:r>
            <a:br>
              <a:rPr lang="en" sz="2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2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ed Hat Display SemiBold"/>
              <a:buChar char="❏"/>
            </a:pPr>
            <a:r>
              <a:rPr lang="en" sz="2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Visualizes workload distribution across municipal jobs.</a:t>
            </a:r>
            <a:endParaRPr sz="2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27432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693" name="Google Shape;693;p64"/>
          <p:cNvPicPr preferRelativeResize="0"/>
          <p:nvPr/>
        </p:nvPicPr>
        <p:blipFill rotWithShape="1">
          <a:blip r:embed="rId3">
            <a:alphaModFix/>
          </a:blip>
          <a:srcRect b="1081" l="763" r="42233" t="1529"/>
          <a:stretch/>
        </p:blipFill>
        <p:spPr>
          <a:xfrm>
            <a:off x="4618950" y="569623"/>
            <a:ext cx="4439550" cy="445700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 txBox="1"/>
          <p:nvPr/>
        </p:nvSpPr>
        <p:spPr>
          <a:xfrm>
            <a:off x="228600" y="1163588"/>
            <a:ext cx="2316600" cy="3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Insights:</a:t>
            </a:r>
            <a:endParaRPr sz="1600">
              <a:solidFill>
                <a:schemeClr val="lt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 SemiBold"/>
              <a:buChar char="❏"/>
            </a:pPr>
            <a:r>
              <a:rPr lang="en" sz="16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Strong correlation between Total Pay and Total Pay Benefits.</a:t>
            </a:r>
            <a:br>
              <a:rPr lang="en" sz="16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6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 SemiBold"/>
              <a:buChar char="❏"/>
            </a:pPr>
            <a:r>
              <a:rPr lang="en" sz="16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Benefits significantly increase total compensation.</a:t>
            </a:r>
            <a:endParaRPr sz="16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99" name="Google Shape;699;p65"/>
          <p:cNvSpPr txBox="1"/>
          <p:nvPr>
            <p:ph type="title"/>
          </p:nvPr>
        </p:nvSpPr>
        <p:spPr>
          <a:xfrm>
            <a:off x="212100" y="228600"/>
            <a:ext cx="8813700" cy="89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Total Pay and Total Pay Benefits Comparison Graph</a:t>
            </a:r>
            <a:endParaRPr sz="28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0" name="Google Shape;700;p65" title="Screenshot 2025-11-30 1154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7125" y="1337175"/>
            <a:ext cx="6196799" cy="304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6"/>
          <p:cNvSpPr txBox="1"/>
          <p:nvPr/>
        </p:nvSpPr>
        <p:spPr>
          <a:xfrm>
            <a:off x="228600" y="1163588"/>
            <a:ext cx="2316600" cy="3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Insights:</a:t>
            </a:r>
            <a:endParaRPr sz="1500">
              <a:solidFill>
                <a:schemeClr val="lt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Large fluctuations in Other Pay reflect job-specific bonuses.</a:t>
            </a:r>
            <a:b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Overtime spikes in certain roles indicate staffing shortages or high service demand.</a:t>
            </a:r>
            <a:endParaRPr sz="16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706" name="Google Shape;706;p66"/>
          <p:cNvSpPr txBox="1"/>
          <p:nvPr>
            <p:ph type="title"/>
          </p:nvPr>
        </p:nvSpPr>
        <p:spPr>
          <a:xfrm>
            <a:off x="212100" y="228600"/>
            <a:ext cx="8813700" cy="89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Overtime Pay and Other Pay Comparison Graph</a:t>
            </a:r>
            <a:endParaRPr sz="28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66" title="Screenshot 2025-11-30 11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300" y="1589225"/>
            <a:ext cx="6243000" cy="2542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7"/>
          <p:cNvSpPr txBox="1"/>
          <p:nvPr/>
        </p:nvSpPr>
        <p:spPr>
          <a:xfrm>
            <a:off x="228600" y="1163600"/>
            <a:ext cx="2440800" cy="3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Model Details:</a:t>
            </a:r>
            <a:endParaRPr>
              <a:solidFill>
                <a:schemeClr val="lt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ML Method: Regression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Target Variable: TotalPayBenefits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Inputs: JobTitle.keyword, BasePay, OvertimePay, OtherPay, Benefits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Training Data:  90% accurate prediction</a:t>
            </a: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713" name="Google Shape;713;p67"/>
          <p:cNvSpPr txBox="1"/>
          <p:nvPr>
            <p:ph type="title"/>
          </p:nvPr>
        </p:nvSpPr>
        <p:spPr>
          <a:xfrm>
            <a:off x="212100" y="228600"/>
            <a:ext cx="8813700" cy="89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Predictive Analysis</a:t>
            </a:r>
            <a:endParaRPr sz="28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67" title="Screenshot 2025-11-30 1158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3050" y="1347975"/>
            <a:ext cx="6041300" cy="2994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8"/>
          <p:cNvSpPr txBox="1"/>
          <p:nvPr>
            <p:ph idx="1" type="subTitle"/>
          </p:nvPr>
        </p:nvSpPr>
        <p:spPr>
          <a:xfrm>
            <a:off x="3575000" y="751050"/>
            <a:ext cx="5340300" cy="430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Top Influencers Identified by Elastic ML:</a:t>
            </a:r>
            <a:endParaRPr sz="1500">
              <a:solidFill>
                <a:schemeClr val="lt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JobTitle.keyword (strongest)</a:t>
            </a:r>
            <a:b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BasePay</a:t>
            </a:r>
            <a:b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OvertimePay</a:t>
            </a:r>
            <a:b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Benefits</a:t>
            </a: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 Interpretation:</a:t>
            </a:r>
            <a:br>
              <a:rPr lang="en" sz="1500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500">
              <a:solidFill>
                <a:schemeClr val="lt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Specific job roles heavily determine pay expectations.</a:t>
            </a:r>
            <a:b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ed Hat Display SemiBold"/>
              <a:buChar char="❏"/>
            </a:pPr>
            <a:r>
              <a:rPr lang="en" sz="15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Benefits meaningfully shift compensation rankings.</a:t>
            </a:r>
            <a:endParaRPr sz="15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68"/>
          <p:cNvSpPr txBox="1"/>
          <p:nvPr>
            <p:ph type="title"/>
          </p:nvPr>
        </p:nvSpPr>
        <p:spPr>
          <a:xfrm>
            <a:off x="3948800" y="1633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Influencers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9"/>
          <p:cNvSpPr txBox="1"/>
          <p:nvPr>
            <p:ph idx="1" type="subTitle"/>
          </p:nvPr>
        </p:nvSpPr>
        <p:spPr>
          <a:xfrm>
            <a:off x="3575100" y="1265400"/>
            <a:ext cx="5340300" cy="2789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Model Metrics:</a:t>
            </a:r>
            <a:endParaRPr>
              <a:solidFill>
                <a:schemeClr val="lt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RMSE (Elastic default)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Prediction distribution aligned with actual pay patterns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Small residual error for high-frequency job titles</a:t>
            </a: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r>
              <a:rPr lang="en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 Conclusion:</a:t>
            </a:r>
            <a:br>
              <a:rPr lang="en">
                <a:solidFill>
                  <a:schemeClr val="lt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Model accurately highlights salary drivers and inequality patterns</a:t>
            </a: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69"/>
          <p:cNvSpPr txBox="1"/>
          <p:nvPr>
            <p:ph type="title"/>
          </p:nvPr>
        </p:nvSpPr>
        <p:spPr>
          <a:xfrm>
            <a:off x="3948800" y="67770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Evalutation &amp; Accuracy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0"/>
          <p:cNvSpPr txBox="1"/>
          <p:nvPr>
            <p:ph idx="1" type="subTitle"/>
          </p:nvPr>
        </p:nvSpPr>
        <p:spPr>
          <a:xfrm>
            <a:off x="3741050" y="901700"/>
            <a:ext cx="5305800" cy="3820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applied ElasticSearch tools such as mapping, indexing, querying, and machine learning analytics to manage and interpret a large real-world dataset.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created dashboards and visualizations, demonstrating our ability to translate raw data into meaningful insights.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performed time-based analysis to understand salary trends.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built and interpreted a regression model in ElasticSearch.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evaluated model accuracy, demonstrating our ability to assess the reliability and effectiveness of machine learning results.</a:t>
            </a: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70"/>
          <p:cNvSpPr txBox="1"/>
          <p:nvPr>
            <p:ph type="title"/>
          </p:nvPr>
        </p:nvSpPr>
        <p:spPr>
          <a:xfrm>
            <a:off x="3910700" y="871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Relevance to Class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1"/>
          <p:cNvSpPr txBox="1"/>
          <p:nvPr>
            <p:ph idx="1" type="subTitle"/>
          </p:nvPr>
        </p:nvSpPr>
        <p:spPr>
          <a:xfrm>
            <a:off x="3741050" y="901700"/>
            <a:ext cx="5305800" cy="3820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discovered that compensation differs significantly across job titles and departments, showing how data analysis can uncover structural pay patterns.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observed high reliance on overtime in public safety roles, demonstrating our ability to identify operational and staffing trends through the data.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found that benefits substantially increase total compensation, reinforcing what we learned about analyzing multi-component salary structures.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noted gender and positional disparities, which highlighted how analytical tools can reveal deeper equity issues within the workforce.</a:t>
            </a: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71"/>
          <p:cNvSpPr txBox="1"/>
          <p:nvPr>
            <p:ph type="title"/>
          </p:nvPr>
        </p:nvSpPr>
        <p:spPr>
          <a:xfrm>
            <a:off x="3910700" y="871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2"/>
          <p:cNvSpPr txBox="1"/>
          <p:nvPr>
            <p:ph idx="1" type="subTitle"/>
          </p:nvPr>
        </p:nvSpPr>
        <p:spPr>
          <a:xfrm>
            <a:off x="3741050" y="901700"/>
            <a:ext cx="5305800" cy="3820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recommend auditing job titles with unusual or disproportionate compensation, applying our analytical skills to support fair pay evaluation.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suggest reevaluating overtime distribution to address inefficiencies identified through our data findings.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encourage greater transparency in compensation structures, using our insights to promote clearer and more equitable salary systems.</a:t>
            </a:r>
            <a:b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</a:b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 SemiBold"/>
              <a:buChar char="❏"/>
            </a:pPr>
            <a:r>
              <a:rPr lang="en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We recommend reviewing benefit allocation to ensure fairness, based on the disparities revealed by our analysis.</a:t>
            </a:r>
            <a:endParaRPr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72"/>
          <p:cNvSpPr txBox="1"/>
          <p:nvPr>
            <p:ph type="title"/>
          </p:nvPr>
        </p:nvSpPr>
        <p:spPr>
          <a:xfrm>
            <a:off x="3910700" y="871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3"/>
          <p:cNvSpPr txBox="1"/>
          <p:nvPr>
            <p:ph type="title"/>
          </p:nvPr>
        </p:nvSpPr>
        <p:spPr>
          <a:xfrm>
            <a:off x="2546875" y="457206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0" name="Google Shape;750;p73"/>
          <p:cNvSpPr txBox="1"/>
          <p:nvPr>
            <p:ph idx="1" type="subTitle"/>
          </p:nvPr>
        </p:nvSpPr>
        <p:spPr>
          <a:xfrm>
            <a:off x="1993075" y="1295100"/>
            <a:ext cx="6868500" cy="31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❏"/>
            </a:pPr>
            <a:r>
              <a:rPr lang="en" sz="1800">
                <a:solidFill>
                  <a:schemeClr val="dk2"/>
                </a:solidFill>
              </a:rPr>
              <a:t>Used </a:t>
            </a:r>
            <a:r>
              <a:rPr lang="en" sz="1800">
                <a:solidFill>
                  <a:schemeClr val="dk2"/>
                </a:solidFill>
              </a:rPr>
              <a:t>the</a:t>
            </a:r>
            <a:r>
              <a:rPr lang="en" sz="1800">
                <a:solidFill>
                  <a:schemeClr val="dk2"/>
                </a:solidFill>
              </a:rPr>
              <a:t> full range of skills learned in class to analyze close to 150,000 salary records using ElasticSearch.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❏"/>
            </a:pPr>
            <a:r>
              <a:rPr lang="en" sz="1800">
                <a:solidFill>
                  <a:schemeClr val="dk2"/>
                </a:solidFill>
              </a:rPr>
              <a:t>We used machine learning regression to identify the key factors that influence total compensation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❏"/>
            </a:pPr>
            <a:r>
              <a:rPr lang="en" sz="1800">
                <a:solidFill>
                  <a:schemeClr val="dk2"/>
                </a:solidFill>
              </a:rPr>
              <a:t> Created dashboards that transformed complex salary data into meaningful visual insights.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Char char="❏"/>
            </a:pPr>
            <a:r>
              <a:rPr lang="en" sz="1800">
                <a:solidFill>
                  <a:schemeClr val="dk2"/>
                </a:solidFill>
              </a:rPr>
              <a:t>Overall, our findings highlight how data analytics can support more equitable and informed decision-making in public administration, showing the real-world value of the tools and methods we developed throughout the course.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&amp;A | Read the article on opensource.com Open data for human… | Flickr" id="755" name="Google Shape;755;p7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839300" y="1063325"/>
            <a:ext cx="7304699" cy="408017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74"/>
          <p:cNvSpPr txBox="1"/>
          <p:nvPr>
            <p:ph type="title"/>
          </p:nvPr>
        </p:nvSpPr>
        <p:spPr>
          <a:xfrm>
            <a:off x="2630425" y="-12150"/>
            <a:ext cx="5760900" cy="938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 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